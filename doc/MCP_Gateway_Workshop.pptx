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D4FF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 użyciu korporacyjnym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6576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9D1D9"/>
                </a:solidFill>
                <a:latin typeface="Segoe UI"/>
              </a:defRPr>
            </a:pPr>
            <a:r>
              <a:t>Adam Dąbrowski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Warsztaty  |  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  <a:latin typeface="Consolas"/>
              </a:defRPr>
            </a:pPr>
            <a:r>
              <a:t>{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32004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onsolas"/>
              </a:defRPr>
            </a:pPr>
            <a:r>
              <a:t>&lt; 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4114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Consolas"/>
              </a:defRPr>
            </a:pPr>
            <a:r>
              <a:t>[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Czym jest Agent?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146304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Użytkownik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1680" y="2286000"/>
            <a:ext cx="731519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34640" y="1645920"/>
            <a:ext cx="2560320" cy="20116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D4FF"/>
                </a:solidFill>
                <a:latin typeface="Segoe UI"/>
              </a:defRPr>
            </a:pPr>
            <a:r>
              <a:t>Agent</a:t>
            </a:r>
          </a:p>
          <a:p>
            <a:pPr algn="ctr">
              <a:spcBef>
                <a:spcPts val="600"/>
              </a:spcBef>
              <a:defRPr sz="1100" b="0">
                <a:solidFill>
                  <a:srgbClr val="8B949E"/>
                </a:solidFill>
                <a:latin typeface="Segoe UI"/>
              </a:defRPr>
            </a:pPr>
            <a:r>
              <a:t>Agentic Loop</a:t>
            </a:r>
          </a:p>
          <a:p>
            <a:pPr algn="ctr">
              <a:spcBef>
                <a:spcPts val="600"/>
              </a:spcBef>
              <a:defRPr sz="1000" b="0">
                <a:solidFill>
                  <a:srgbClr val="C9D1D9"/>
                </a:solidFill>
                <a:latin typeface="Segoe UI"/>
              </a:defRPr>
            </a:pPr>
            <a:r>
              <a:t>↻ Reason → Act → 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  <a:latin typeface="Segoe UI"/>
              </a:defRPr>
            </a:pPr>
            <a:r>
              <a:t>↻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486400" y="1920240"/>
            <a:ext cx="731519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137160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2560320"/>
            <a:ext cx="731519" cy="32004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2651760"/>
            <a:ext cx="137160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  <a:br/>
            <a:r>
              <a:t>(wewnętrzne)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3200400"/>
            <a:ext cx="731519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3566160"/>
            <a:ext cx="137160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Tools</a:t>
            </a:r>
            <a:br/>
            <a:r>
              <a:t>(zewnętrzne)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D1D9"/>
                </a:solidFill>
                <a:latin typeface="Segoe UI"/>
              </a:defRPr>
            </a:pPr>
            <a:r>
              <a:t>Rodzaje agentów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578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79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W imieniu użytkownika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983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Autonomiczny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59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6B35"/>
                </a:solidFill>
                <a:latin typeface="Segoe UI"/>
              </a:defRPr>
            </a:pPr>
            <a:r>
              <a:t>Remote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79" y="5303520"/>
            <a:ext cx="25603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C9D1D9"/>
                </a:solidFill>
                <a:latin typeface="Segoe UI"/>
              </a:defRPr>
            </a:pPr>
            <a:r>
              <a:t>Claude Code</a:t>
            </a:r>
            <a:br/>
            <a:r>
              <a:t>Cursor,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5303520"/>
            <a:ext cx="25603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C9D1D9"/>
                </a:solidFill>
                <a:latin typeface="Segoe UI"/>
              </a:defRPr>
            </a:pPr>
            <a:r>
              <a:t>Local cron agents</a:t>
            </a:r>
            <a:br/>
            <a:r>
              <a:t>File watchers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79" y="6126480"/>
            <a:ext cx="25603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C9D1D9"/>
                </a:solidFill>
                <a:latin typeface="Segoe UI"/>
              </a:defRPr>
            </a:pPr>
            <a:r>
              <a:t>Chatbot webowy</a:t>
            </a:r>
            <a:br/>
            <a:r>
              <a:t>API assistant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6126480"/>
            <a:ext cx="25603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C9D1D9"/>
                </a:solidFill>
                <a:latin typeface="Segoe UI"/>
              </a:defRPr>
            </a:pPr>
            <a:r>
              <a:t>Monitoring agent</a:t>
            </a:r>
            <a:br/>
            <a:r>
              <a:t>Pipeline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Segoe UI"/>
              </a:defRPr>
            </a:pPr>
            <a:r>
              <a:t>Model Context Protocol (MCP)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Otwarty standard komunikacji</a:t>
            </a:r>
            <a:br/>
            <a:r>
              <a:t>między agentami AI a narzędziami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9D1D9"/>
                </a:solidFill>
                <a:latin typeface="Segoe UI"/>
              </a:defRPr>
            </a:pPr>
            <a:endParaRPr/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00D4FF"/>
                </a:solidFill>
                <a:latin typeface="Segoe UI"/>
              </a:rPr>
              <a:t>▸ Jeden protokół  </a:t>
            </a:r>
            <a:r>
              <a:rPr sz="1500">
                <a:solidFill>
                  <a:srgbClr val="C9D1D9"/>
                </a:solidFill>
                <a:latin typeface="Segoe UI"/>
              </a:rPr>
              <a:t>zamiast N integracji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00D4FF"/>
                </a:solidFill>
                <a:latin typeface="Segoe UI"/>
              </a:rPr>
              <a:t>▸ JSON-RPC 2.0  </a:t>
            </a:r>
            <a:r>
              <a:rPr sz="1500">
                <a:solidFill>
                  <a:srgbClr val="C9D1D9"/>
                </a:solidFill>
                <a:latin typeface="Segoe UI"/>
              </a:rPr>
              <a:t>przez HTTP (Streamable HTTP)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00D4FF"/>
                </a:solidFill>
                <a:latin typeface="Segoe UI"/>
              </a:rPr>
              <a:t>▸ Standaryzacja  </a:t>
            </a:r>
            <a:r>
              <a:rPr sz="1500">
                <a:solidFill>
                  <a:srgbClr val="C9D1D9"/>
                </a:solidFill>
                <a:latin typeface="Segoe UI"/>
              </a:rPr>
              <a:t>tools, resources, prompts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00D4FF"/>
                </a:solidFill>
                <a:latin typeface="Segoe UI"/>
              </a:rPr>
              <a:t>▸ Open source  </a:t>
            </a:r>
            <a:r>
              <a:rPr sz="1500">
                <a:solidFill>
                  <a:srgbClr val="C9D1D9"/>
                </a:solidFill>
                <a:latin typeface="Segoe UI"/>
              </a:rPr>
              <a:t>specyfikacja Anthropic (2024)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4572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Segoe UI"/>
              </a:defRPr>
            </a:pPr>
            <a:r>
              <a:t>MCP Host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94560"/>
            <a:ext cx="2011680" cy="137160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MCP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51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Maintains 1:1</a:t>
            </a:r>
            <a:br/>
            <a:r>
              <a:t>connection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840480"/>
            <a:ext cx="2011680" cy="137160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MCP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Maintains 1:1</a:t>
            </a:r>
            <a:br/>
            <a:r>
              <a:t>connection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2743200"/>
            <a:ext cx="548639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8778240" y="4389120"/>
            <a:ext cx="548639" cy="32004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418320" y="2194560"/>
            <a:ext cx="1645920" cy="137160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2286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6517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D1D9"/>
                </a:solidFill>
                <a:latin typeface="Segoe UI"/>
              </a:defRPr>
            </a:pPr>
            <a:r>
              <a:t>Tools</a:t>
            </a:r>
            <a:br/>
            <a:r>
              <a:t>Resources</a:t>
            </a:r>
            <a:br/>
            <a:r>
              <a:t>Prompts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3840480"/>
            <a:ext cx="1645920" cy="137160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3931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2976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D1D9"/>
                </a:solidFill>
                <a:latin typeface="Segoe UI"/>
              </a:defRPr>
            </a:pPr>
            <a:r>
              <a:t>Tools</a:t>
            </a:r>
            <a:br/>
            <a:r>
              <a:t>Resources</a:t>
            </a:r>
            <a:br/>
            <a:r>
              <a:t>Prompts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Segoe UI"/>
              </a:defRPr>
            </a:pPr>
            <a:r>
              <a:t>Spaghetti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Każdy agent podłączony do każdego serwera MCP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16459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1</a:t>
            </a:r>
            <a:br/>
            <a:r>
              <a:t>(Sales)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16459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2</a:t>
            </a:r>
            <a:br/>
            <a:r>
              <a:t>(Support)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6459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3</a:t>
            </a:r>
            <a:br/>
            <a:r>
              <a:t>(DevOps)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6459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4</a:t>
            </a:r>
            <a:br/>
            <a:r>
              <a:t>(HR)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60720"/>
            <a:ext cx="16459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Agent 5</a:t>
            </a:r>
            <a:br/>
            <a:r>
              <a:t>(Finance)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10312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CRM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274320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Jira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38328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Git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402336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Confluence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66344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Slack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530352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HR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943600"/>
            <a:ext cx="2011680" cy="5029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MCP: DB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2103120" y="2354579"/>
            <a:ext cx="6583680" cy="251461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03120" y="2606040"/>
            <a:ext cx="6583680" cy="3886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03120" y="2606040"/>
            <a:ext cx="6583680" cy="102870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03120" y="2606040"/>
            <a:ext cx="6583680" cy="166878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03120" y="2606040"/>
            <a:ext cx="6583680" cy="230886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03120" y="2606040"/>
            <a:ext cx="6583680" cy="294894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03120" y="2606040"/>
            <a:ext cx="6583680" cy="35890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03120" y="2354579"/>
            <a:ext cx="6583680" cy="1165861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03120" y="2994660"/>
            <a:ext cx="6583680" cy="52578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03120" y="3520440"/>
            <a:ext cx="6583680" cy="11430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103120" y="3520440"/>
            <a:ext cx="6583680" cy="75438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103120" y="3520440"/>
            <a:ext cx="6583680" cy="139446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03120" y="3520440"/>
            <a:ext cx="6583680" cy="203454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103120" y="3520440"/>
            <a:ext cx="6583680" cy="26746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103120" y="2354579"/>
            <a:ext cx="6583680" cy="2080261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103120" y="2994660"/>
            <a:ext cx="6583680" cy="144018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103120" y="3634740"/>
            <a:ext cx="6583680" cy="80010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103120" y="4274820"/>
            <a:ext cx="6583680" cy="1600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03120" y="4434840"/>
            <a:ext cx="6583680" cy="48006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03120" y="4434840"/>
            <a:ext cx="6583680" cy="112014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03120" y="4434840"/>
            <a:ext cx="6583680" cy="17602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103120" y="2354579"/>
            <a:ext cx="6583680" cy="2994661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103120" y="2994660"/>
            <a:ext cx="6583680" cy="235458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03120" y="3634740"/>
            <a:ext cx="6583680" cy="171450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103120" y="4274820"/>
            <a:ext cx="6583680" cy="10744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103120" y="4914900"/>
            <a:ext cx="6583680" cy="43434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03120" y="5349240"/>
            <a:ext cx="6583680" cy="20574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103120" y="5349240"/>
            <a:ext cx="6583680" cy="84582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103120" y="2354579"/>
            <a:ext cx="6583680" cy="3726180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103120" y="2994660"/>
            <a:ext cx="6583680" cy="3086099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103120" y="3634740"/>
            <a:ext cx="6583680" cy="2446019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103120" y="4274820"/>
            <a:ext cx="6583680" cy="1805939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103120" y="4914900"/>
            <a:ext cx="6583680" cy="1165859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103120" y="5554980"/>
            <a:ext cx="6583680" cy="525779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03120" y="6080759"/>
            <a:ext cx="6583680" cy="114301"/>
          </a:xfrm>
          <a:prstGeom prst="line">
            <a:avLst/>
          </a:prstGeom>
          <a:ln w="12700">
            <a:solidFill>
              <a:srgbClr val="FF6B35">
                <a:alpha val="3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72000" y="2560320"/>
            <a:ext cx="1645920" cy="7315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EF4444"/>
                </a:solidFill>
                <a:latin typeface="Segoe UI"/>
              </a:defRPr>
            </a:pPr>
            <a:r>
              <a:t>N x M</a:t>
            </a:r>
            <a:br/>
            <a:r>
              <a:t>połączeń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3566160"/>
            <a:ext cx="1645920" cy="7315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6B35"/>
                </a:solidFill>
                <a:latin typeface="Segoe UI"/>
              </a:defRPr>
            </a:pPr>
            <a:r>
              <a:t>N x M</a:t>
            </a:r>
            <a:br/>
            <a:r>
              <a:t>tokenów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4572000"/>
            <a:ext cx="1645920" cy="91440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300" b="1">
                <a:solidFill>
                  <a:srgbClr val="FBBF24"/>
                </a:solidFill>
                <a:latin typeface="Segoe UI"/>
              </a:defRPr>
            </a:pPr>
            <a:r>
              <a:t>N x M</a:t>
            </a:r>
            <a:br/>
            <a:r>
              <a:t>service</a:t>
            </a:r>
            <a:br/>
            <a:r>
              <a:t>accounts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⚠  5 agentów × 7 serwerów MCP = 35 połączeń, 35 tokenów, zero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  <a:latin typeface="Segoe UI"/>
              </a:defRPr>
            </a:pPr>
            <a:r>
              <a:t>Problemy z MCP w korporacji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6B35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35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Skąd agent wie jakie serwery MCP</a:t>
            </a:r>
            <a:br/>
            <a:r>
              <a:t>są dostępne w organizacji?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474720"/>
            <a:ext cx="2743200" cy="182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Brak centralnego rejestru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Hardkodowane URL-e w konfiguracji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Każdy zespół ma swoje serwery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Agent musi znać wszystkie z góry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828800"/>
            <a:ext cx="3291840" cy="42062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BBF24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Segoe UI"/>
              </a:defRPr>
            </a:pPr>
            <a:r>
              <a:t>Context Rotting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Wszystkie serwery MCP ładowane</a:t>
            </a:r>
            <a:br/>
            <a:r>
              <a:t>na start — przeładowany kontekst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79" y="3474720"/>
            <a:ext cx="2743200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79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Wszystkie tools w kontekście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Agent nie wie co wybrać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Halucynacje przy wyborze toola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rPr dirty="0"/>
              <a:t>▸  </a:t>
            </a:r>
            <a:r>
              <a:rPr dirty="0" err="1"/>
              <a:t>Nie</a:t>
            </a:r>
            <a:r>
              <a:rPr dirty="0"/>
              <a:t> </a:t>
            </a:r>
            <a:r>
              <a:rPr dirty="0" err="1"/>
              <a:t>skaluje</a:t>
            </a:r>
            <a:r>
              <a:rPr dirty="0"/>
              <a:t> </a:t>
            </a:r>
            <a:r>
              <a:rPr dirty="0" err="1"/>
              <a:t>się</a:t>
            </a:r>
            <a:r>
              <a:rPr dirty="0"/>
              <a:t> (50+ </a:t>
            </a:r>
            <a:r>
              <a:rPr dirty="0" err="1"/>
              <a:t>serwerów</a:t>
            </a:r>
            <a:r>
              <a:rPr dirty="0"/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3291840" cy="42062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F4444"/>
                </a:solidFill>
                <a:latin typeface="Segoe UI"/>
              </a:defRPr>
            </a:pPr>
            <a:r>
              <a:t>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057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Segoe UI"/>
              </a:defRPr>
            </a:pPr>
            <a:r>
              <a:t>Autoryzacja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Każdy serwer MCP wymaga</a:t>
            </a:r>
            <a:br/>
            <a:r>
              <a:t>osobnej autoryzacji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474720"/>
            <a:ext cx="2743200" cy="182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N serwerów = N tokenów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Brak SSO dla agentów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Service accounts bez kontroli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5166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Segoe UI"/>
              </a:defRPr>
            </a:pPr>
            <a:r>
              <a:t>▸  Brak audytu per-user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MCP Gateway — rozwiązanie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25880"/>
            <a:ext cx="18288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Segoe UI"/>
              </a:defRPr>
            </a:pPr>
            <a:r>
              <a:t>Agenci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46304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  <a:br/>
            <a:r>
              <a:t>(Remote)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146304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  <a:br/>
            <a:r>
              <a:t>(Local)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97680"/>
            <a:ext cx="1463040" cy="8229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Agent</a:t>
            </a:r>
            <a:br/>
            <a:r>
              <a:t>(Auto)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28800"/>
            <a:ext cx="1645920" cy="36576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9202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IDP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31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Keycloak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7432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OIDC</a:t>
            </a:r>
            <a:br/>
            <a:r>
              <a:t>Login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3474720"/>
            <a:ext cx="1280160" cy="82296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88920" y="35204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Token</a:t>
            </a:r>
            <a:br/>
            <a:r>
              <a:t>Exchange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48056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JWKS</a:t>
            </a:r>
            <a:br/>
            <a:r>
              <a:t>Endpoint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965960" y="2331720"/>
            <a:ext cx="502920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1965960" y="3429000"/>
            <a:ext cx="502920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/>
          <p:cNvSpPr/>
          <p:nvPr/>
        </p:nvSpPr>
        <p:spPr>
          <a:xfrm>
            <a:off x="1965960" y="4526280"/>
            <a:ext cx="502920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54880" y="1645920"/>
            <a:ext cx="2743200" cy="45720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t>MCP Gateway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286000"/>
            <a:ext cx="2377440" cy="5029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331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Segoe UI"/>
              </a:defRPr>
            </a:pPr>
            <a:r>
              <a:t>JWT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2926080"/>
            <a:ext cx="2377440" cy="5029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0" y="2971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  <a:latin typeface="Segoe UI"/>
              </a:defRPr>
            </a:pPr>
            <a:r>
              <a:t>Token Exchange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37760" y="3566160"/>
            <a:ext cx="2377440" cy="5029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361187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206240"/>
            <a:ext cx="2377440" cy="5029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0" y="425195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Segoe UI"/>
              </a:defRPr>
            </a:pPr>
            <a:r>
              <a:t>Lazy Init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0" y="4846320"/>
            <a:ext cx="2377440" cy="50292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4892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Segoe UI"/>
              </a:defRPr>
            </a:pPr>
            <a:r>
              <a:t>Tool Proxy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51960" y="2834640"/>
            <a:ext cx="411479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30"/>
          <p:cNvSpPr/>
          <p:nvPr/>
        </p:nvSpPr>
        <p:spPr>
          <a:xfrm>
            <a:off x="4251960" y="3657600"/>
            <a:ext cx="411479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Segoe UI"/>
              </a:defRPr>
            </a:pPr>
            <a:r>
              <a:t>MCP Servers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194560"/>
            <a:ext cx="1645920" cy="7315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pl-PL" dirty="0"/>
              <a:t>MCP Server 1</a:t>
            </a:r>
            <a:br>
              <a:rPr dirty="0"/>
            </a:br>
            <a:r>
              <a:rPr dirty="0"/>
              <a:t>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331720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onsolas"/>
              </a:defRPr>
            </a:pPr>
            <a:r>
              <a:rPr dirty="0" err="1"/>
              <a:t>aud</a:t>
            </a:r>
            <a:r>
              <a:rPr dirty="0"/>
              <a:t>: </a:t>
            </a:r>
            <a:r>
              <a:rPr dirty="0" err="1"/>
              <a:t>mcp</a:t>
            </a:r>
            <a:r>
              <a:rPr dirty="0"/>
              <a:t>-</a:t>
            </a:r>
            <a:r>
              <a:rPr lang="pl-PL" dirty="0"/>
              <a:t>server1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8229600" y="3291840"/>
            <a:ext cx="1645920" cy="7315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pl-PL" dirty="0"/>
              <a:t>MCP Server 2</a:t>
            </a:r>
            <a:br>
              <a:rPr dirty="0"/>
            </a:br>
            <a:r>
              <a:rPr dirty="0"/>
              <a:t>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3429000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onsolas"/>
              </a:defRPr>
            </a:pPr>
            <a:r>
              <a:rPr dirty="0" err="1"/>
              <a:t>aud</a:t>
            </a:r>
            <a:r>
              <a:rPr dirty="0"/>
              <a:t>: </a:t>
            </a:r>
            <a:r>
              <a:rPr dirty="0" err="1"/>
              <a:t>mcp</a:t>
            </a:r>
            <a:r>
              <a:rPr dirty="0"/>
              <a:t>-</a:t>
            </a:r>
            <a:r>
              <a:rPr lang="pl-PL" dirty="0"/>
              <a:t>server2</a:t>
            </a:r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8229600" y="4389120"/>
            <a:ext cx="1645920" cy="7315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lang="pl-PL" dirty="0"/>
              <a:t>MCP Server 3</a:t>
            </a:r>
            <a:br>
              <a:rPr dirty="0"/>
            </a:br>
            <a:r>
              <a:rPr dirty="0"/>
              <a:t>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526280"/>
            <a:ext cx="1828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Consolas"/>
              </a:defRPr>
            </a:pPr>
            <a:r>
              <a:rPr dirty="0" err="1"/>
              <a:t>aud</a:t>
            </a:r>
            <a:r>
              <a:rPr dirty="0"/>
              <a:t>: </a:t>
            </a:r>
            <a:r>
              <a:rPr dirty="0" err="1"/>
              <a:t>mcp</a:t>
            </a:r>
            <a:r>
              <a:rPr dirty="0"/>
              <a:t>-</a:t>
            </a:r>
            <a:r>
              <a:rPr lang="pl-PL" dirty="0"/>
              <a:t>server3</a:t>
            </a:r>
            <a:endParaRPr dirty="0"/>
          </a:p>
        </p:txBody>
      </p:sp>
      <p:sp>
        <p:nvSpPr>
          <p:cNvPr id="39" name="Rounded Rectangle 38"/>
          <p:cNvSpPr/>
          <p:nvPr/>
        </p:nvSpPr>
        <p:spPr>
          <a:xfrm>
            <a:off x="8229600" y="5486400"/>
            <a:ext cx="1645920" cy="7315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...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4846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Segoe UI"/>
              </a:defRPr>
            </a:pPr>
            <a:r>
              <a:t>JWT offline</a:t>
            </a:r>
            <a:br/>
            <a:r>
              <a:t>verification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543800" y="2377440"/>
            <a:ext cx="594360" cy="32004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41"/>
          <p:cNvSpPr/>
          <p:nvPr/>
        </p:nvSpPr>
        <p:spPr>
          <a:xfrm>
            <a:off x="7543800" y="3474720"/>
            <a:ext cx="594360" cy="32004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ight Arrow 42"/>
          <p:cNvSpPr/>
          <p:nvPr/>
        </p:nvSpPr>
        <p:spPr>
          <a:xfrm>
            <a:off x="7543800" y="4572000"/>
            <a:ext cx="594360" cy="320040"/>
          </a:xfrm>
          <a:prstGeom prst="right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 login  →  1 token  →  N serwerów (z automatycznym Token Exchange)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0D4FF"/>
                </a:solidFill>
                <a:latin typeface="Segoe UI"/>
              </a:defRPr>
            </a:pPr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828800" cy="7315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Przeglądarka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PKCE Login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1691640"/>
            <a:ext cx="640079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08960" y="1280160"/>
            <a:ext cx="2560320" cy="128016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0" y="1325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Agent Web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Google ADK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FastAPI +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:8000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280160"/>
            <a:ext cx="2286000" cy="14630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0" y="1371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Keycloak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783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OIDC 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057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9D1D9"/>
                </a:solidFill>
                <a:latin typeface="Segoe UI"/>
              </a:defRPr>
            </a:pPr>
            <a:r>
              <a:t>Token Exchange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331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Segoe UI"/>
              </a:defRPr>
            </a:pPr>
            <a:r>
              <a:t>JWKS / Realm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14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:8080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1691640"/>
            <a:ext cx="731519" cy="32004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1371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949E"/>
                </a:solidFill>
                <a:latin typeface="Segoe UI"/>
              </a:defRPr>
            </a:pPr>
            <a:r>
              <a:t>Keycloak Clients: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onsolas"/>
              </a:defRPr>
            </a:pPr>
            <a:r>
              <a:t>▸ adk-web-client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1691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egoe UI"/>
              </a:defRPr>
            </a:pPr>
            <a:r>
              <a:t>public (PKCE)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011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onsolas"/>
              </a:defRPr>
            </a:pPr>
            <a:r>
              <a:t>▸ mcp-gateway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onsolas"/>
              </a:defRPr>
            </a:pPr>
            <a:r>
              <a:t>▸ mcp-weather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4FF"/>
                </a:solidFill>
                <a:latin typeface="Consolas"/>
              </a:defRPr>
            </a:pPr>
            <a:r>
              <a:t>▸ mcp-calculator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2651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egoe UI"/>
              </a:defRPr>
            </a:pPr>
            <a:r>
              <a:t>confidential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0" y="3017520"/>
            <a:ext cx="5029200" cy="14630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0" y="3063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MCP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251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:8010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520440"/>
            <a:ext cx="1371600" cy="36576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29000" y="353872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4FF"/>
                </a:solidFill>
                <a:latin typeface="Consolas"/>
              </a:defRPr>
            </a:pPr>
            <a:r>
              <a:t>JWT Auth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3520440"/>
            <a:ext cx="1554480" cy="36576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83480" y="3538728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BF24"/>
                </a:solidFill>
                <a:latin typeface="Consolas"/>
              </a:defRPr>
            </a:pPr>
            <a:r>
              <a:t>Token Exchange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4023360"/>
            <a:ext cx="1371600" cy="36576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29000" y="4041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search_servers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4023360"/>
            <a:ext cx="1554480" cy="36576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4041648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enable_server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75120" y="3749039"/>
            <a:ext cx="1188720" cy="365760"/>
          </a:xfrm>
          <a:prstGeom prst="roundRect">
            <a:avLst/>
          </a:prstGeom>
          <a:solidFill>
            <a:srgbClr val="21262D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3767327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C3AED"/>
                </a:solidFill>
                <a:latin typeface="Consolas"/>
              </a:defRPr>
            </a:pPr>
            <a:r>
              <a:t>Tool Proxy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89120" y="2560320"/>
            <a:ext cx="0" cy="457200"/>
          </a:xfrm>
          <a:prstGeom prst="line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726679" y="2743200"/>
            <a:ext cx="0" cy="27432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286000" y="4937760"/>
            <a:ext cx="2743200" cy="14630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Weather MCP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7744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D1D9"/>
                </a:solidFill>
                <a:latin typeface="Consolas"/>
              </a:defRPr>
            </a:pPr>
            <a:r>
              <a:t>get_weather, get_forecast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Consolas"/>
              </a:defRPr>
            </a:pPr>
            <a:r>
              <a:t>JWT: aud=mcp-weather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943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4B8A6"/>
                </a:solidFill>
                <a:latin typeface="Segoe UI"/>
              </a:defRPr>
            </a:pPr>
            <a:r>
              <a:t>Open-Meteo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6172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:8011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0" y="4937760"/>
            <a:ext cx="2743200" cy="146304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35040" y="4983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Calculator MCP Server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5349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9D1D9"/>
                </a:solidFill>
                <a:latin typeface="Consolas"/>
              </a:defRPr>
            </a:pPr>
            <a:r>
              <a:t>add, subtract, multiply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504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Consolas"/>
              </a:defRPr>
            </a:pPr>
            <a:r>
              <a:t>JWT: aud=mcp-calculator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6172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:8012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3657600" y="4480560"/>
            <a:ext cx="914400" cy="457200"/>
          </a:xfrm>
          <a:prstGeom prst="line">
            <a:avLst/>
          </a:prstGeom>
          <a:ln w="25400">
            <a:solidFill>
              <a:srgbClr val="14B8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400800" y="4480560"/>
            <a:ext cx="914400" cy="457200"/>
          </a:xfrm>
          <a:prstGeom prst="line">
            <a:avLst/>
          </a:prstGeom>
          <a:ln w="25400">
            <a:solidFill>
              <a:srgbClr val="14B8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7432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Consolas"/>
              </a:defRPr>
            </a:pPr>
            <a:r>
              <a:t>Token flow:  User → PKCE login → token(aud:mcp-gateway) → Gateway → Token Exchange → token(aud:mcp-weather) → Server validates offline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FF"/>
                </a:solidFill>
                <a:latin typeface="Segoe UI"/>
              </a:defRPr>
            </a:pPr>
            <a:r>
              <a:t>Dziękuję!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00400"/>
            <a:ext cx="30175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Adam Dąbrowski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Kod źródłowy / Demo: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937760"/>
            <a:ext cx="5760720" cy="64008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4983480"/>
            <a:ext cx="539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Consolas"/>
              </a:defRPr>
            </a:pPr>
            <a:r>
              <a:rPr lang="pl-PL" dirty="0" err="1"/>
              <a:t>github.com</a:t>
            </a:r>
            <a:r>
              <a:rPr lang="pl-PL" dirty="0"/>
              <a:t>/riposta/</a:t>
            </a:r>
            <a:r>
              <a:rPr lang="pl-PL" dirty="0" err="1"/>
              <a:t>dynamic-mcp-poc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371600" y="5852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Segoe UI"/>
              </a:defRPr>
            </a:pPr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582</Words>
  <Application>Microsoft Macintosh PowerPoint</Application>
  <PresentationFormat>Panoramiczny</PresentationFormat>
  <Paragraphs>151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/>
  <cp:keywords/>
  <dc:description>generated using python-pptx</dc:description>
  <cp:lastModifiedBy>Adam Dąbrowski</cp:lastModifiedBy>
  <cp:revision>4</cp:revision>
  <dcterms:created xsi:type="dcterms:W3CDTF">2013-01-27T09:14:16Z</dcterms:created>
  <dcterms:modified xsi:type="dcterms:W3CDTF">2026-02-23T10:51:07Z</dcterms:modified>
  <cp:category/>
</cp:coreProperties>
</file>